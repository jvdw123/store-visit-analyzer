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by Product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Pure Juices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74.53703703703704</c:v>
                </c:pt>
                <c:pt idx="1">
                  <c:v>74.0</c:v>
                </c:pt>
                <c:pt idx="2">
                  <c:v>33.125</c:v>
                </c:pt>
                <c:pt idx="3">
                  <c:v>54.60251046025104</c:v>
                </c:pt>
                <c:pt idx="4">
                  <c:v>61.18210862619809</c:v>
                </c:pt>
                <c:pt idx="5">
                  <c:v>26.174496644295303</c:v>
                </c:pt>
                <c:pt idx="6">
                  <c:v>57.48987854251012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004E89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12.037037037037036</c:v>
                </c:pt>
                <c:pt idx="1">
                  <c:v>2.666666666666667</c:v>
                </c:pt>
                <c:pt idx="2">
                  <c:v>25.624999999999996</c:v>
                </c:pt>
                <c:pt idx="3">
                  <c:v>6.694560669456067</c:v>
                </c:pt>
                <c:pt idx="4">
                  <c:v>4.952076677316294</c:v>
                </c:pt>
                <c:pt idx="5">
                  <c:v>48.99328859060403</c:v>
                </c:pt>
                <c:pt idx="6">
                  <c:v>13.765182186234817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Smoothies</c:v>
                </c:pt>
              </c:strCache>
            </c:strRef>
          </c:tx>
          <c:spPr>
            <a:solidFill>
              <a:srgbClr val="F7B801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9.722222222222223</c:v>
                </c:pt>
                <c:pt idx="1">
                  <c:v>7.333333333333333</c:v>
                </c:pt>
                <c:pt idx="2">
                  <c:v>17.5</c:v>
                </c:pt>
                <c:pt idx="3">
                  <c:v>26.778242677824267</c:v>
                </c:pt>
                <c:pt idx="4">
                  <c:v>29.712460063897762</c:v>
                </c:pt>
                <c:pt idx="5">
                  <c:v>20.80536912751678</c:v>
                </c:pt>
                <c:pt idx="6">
                  <c:v>17.813765182186234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Shots</c:v>
                </c:pt>
              </c:strCache>
            </c:strRef>
          </c:tx>
          <c:spPr>
            <a:solidFill>
              <a:srgbClr val="1B998B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3.7037037037037033</c:v>
                </c:pt>
                <c:pt idx="1">
                  <c:v>16.0</c:v>
                </c:pt>
                <c:pt idx="2">
                  <c:v>23.75</c:v>
                </c:pt>
                <c:pt idx="3">
                  <c:v>11.92468619246862</c:v>
                </c:pt>
                <c:pt idx="4">
                  <c:v>4.15335463258786</c:v>
                </c:pt>
                <c:pt idx="5">
                  <c:v>4.026845637583892</c:v>
                </c:pt>
                <c:pt idx="6">
                  <c:v>10.931174089068826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000"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PL vs Branded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Private Label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96.29629629629629</c:v>
                </c:pt>
                <c:pt idx="1">
                  <c:v>100.0</c:v>
                </c:pt>
                <c:pt idx="2">
                  <c:v>98.75</c:v>
                </c:pt>
                <c:pt idx="3">
                  <c:v>19.874476987447697</c:v>
                </c:pt>
                <c:pt idx="4">
                  <c:v>26.837060702875398</c:v>
                </c:pt>
                <c:pt idx="5">
                  <c:v>6.7114093959731544</c:v>
                </c:pt>
                <c:pt idx="6">
                  <c:v>32.79352226720648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Branded</c:v>
                </c:pt>
              </c:strCache>
            </c:strRef>
          </c:tx>
          <c:spPr>
            <a:solidFill>
              <a:srgbClr val="004E89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3.7037037037037033</c:v>
                </c:pt>
                <c:pt idx="1">
                  <c:v>0.0</c:v>
                </c:pt>
                <c:pt idx="2">
                  <c:v>1.25</c:v>
                </c:pt>
                <c:pt idx="3">
                  <c:v>80.1255230125523</c:v>
                </c:pt>
                <c:pt idx="4">
                  <c:v>73.1629392971246</c:v>
                </c:pt>
                <c:pt idx="5">
                  <c:v>93.28859060402685</c:v>
                </c:pt>
                <c:pt idx="6">
                  <c:v>67.20647773279353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000"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HPP vs Non-HPP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100.0</c:v>
                </c:pt>
                <c:pt idx="1">
                  <c:v>88.46153846153845</c:v>
                </c:pt>
                <c:pt idx="2">
                  <c:v>81.21546961325967</c:v>
                </c:pt>
                <c:pt idx="3">
                  <c:v>86.35014836795251</c:v>
                </c:pt>
                <c:pt idx="4">
                  <c:v>97.57085020242914</c:v>
                </c:pt>
                <c:pt idx="5">
                  <c:v>100.0</c:v>
                </c:pt>
                <c:pt idx="6">
                  <c:v>79.13043478260869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004E89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</c:v>
                </c:pt>
                <c:pt idx="1">
                  <c:v>11.538461538461538</c:v>
                </c:pt>
                <c:pt idx="2">
                  <c:v>18.784530386740332</c:v>
                </c:pt>
                <c:pt idx="3">
                  <c:v>13.649851632047477</c:v>
                </c:pt>
                <c:pt idx="4">
                  <c:v>2.42914979757085</c:v>
                </c:pt>
                <c:pt idx="5">
                  <c:v>0.0</c:v>
                </c:pt>
                <c:pt idx="6">
                  <c:v>20.869565217391305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000"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Indulgence vs Functional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Indulgence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74.76635514018692</c:v>
                </c:pt>
                <c:pt idx="1">
                  <c:v>74.66666666666667</c:v>
                </c:pt>
                <c:pt idx="2">
                  <c:v>59.68750000000001</c:v>
                </c:pt>
                <c:pt idx="3">
                  <c:v>64.01673640167364</c:v>
                </c:pt>
                <c:pt idx="4">
                  <c:v>72.20447284345049</c:v>
                </c:pt>
                <c:pt idx="5">
                  <c:v>49.664429530201346</c:v>
                </c:pt>
                <c:pt idx="6">
                  <c:v>60.72874493927125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Functional</c:v>
                </c:pt>
              </c:strCache>
            </c:strRef>
          </c:tx>
          <c:spPr>
            <a:solidFill>
              <a:srgbClr val="004E89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25.233644859813083</c:v>
                </c:pt>
                <c:pt idx="1">
                  <c:v>25.333333333333336</c:v>
                </c:pt>
                <c:pt idx="2">
                  <c:v>40.3125</c:v>
                </c:pt>
                <c:pt idx="3">
                  <c:v>35.98326359832636</c:v>
                </c:pt>
                <c:pt idx="4">
                  <c:v>27.79552715654952</c:v>
                </c:pt>
                <c:pt idx="5">
                  <c:v>50.33557046979866</c:v>
                </c:pt>
                <c:pt idx="6">
                  <c:v>39.27125506072874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000">
          <a:latin typeface="Apto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Category Shares by Retailer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PL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96.29629629629629</c:v>
                </c:pt>
                <c:pt idx="1">
                  <c:v>100.0</c:v>
                </c:pt>
                <c:pt idx="2">
                  <c:v>98.75</c:v>
                </c:pt>
                <c:pt idx="3">
                  <c:v>19.874476987447697</c:v>
                </c:pt>
                <c:pt idx="4">
                  <c:v>26.837060702875398</c:v>
                </c:pt>
                <c:pt idx="5">
                  <c:v>6.7114093959731544</c:v>
                </c:pt>
                <c:pt idx="6">
                  <c:v>32.79352226720648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HPP</c:v>
                </c:pt>
              </c:strCache>
            </c:strRef>
          </c:tx>
          <c:spPr>
            <a:solidFill>
              <a:srgbClr val="004E89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</c:v>
                </c:pt>
                <c:pt idx="1">
                  <c:v>10.0</c:v>
                </c:pt>
                <c:pt idx="2">
                  <c:v>10.625</c:v>
                </c:pt>
                <c:pt idx="3">
                  <c:v>9.623430962343097</c:v>
                </c:pt>
                <c:pt idx="4">
                  <c:v>1.9169329073482428</c:v>
                </c:pt>
                <c:pt idx="5">
                  <c:v>0.0</c:v>
                </c:pt>
                <c:pt idx="6">
                  <c:v>9.7165991902834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% Cold Pressed</c:v>
                </c:pt>
              </c:strCache>
            </c:strRef>
          </c:tx>
          <c:spPr>
            <a:solidFill>
              <a:srgbClr val="F7B801"/>
            </a:solidFill>
          </c:spPr>
          <c:cat>
            <c:strRef>
              <c:f>Sheet1!$A$2:$A$8</c:f>
              <c:strCache>
                <c:ptCount val="7"/>
                <c:pt idx="0">
                  <c:v>Aldi</c:v>
                </c:pt>
                <c:pt idx="1">
                  <c:v>Lidl</c:v>
                </c:pt>
                <c:pt idx="2">
                  <c:v>M&amp;S</c:v>
                </c:pt>
                <c:pt idx="3">
                  <c:v>Sainsbury's</c:v>
                </c:pt>
                <c:pt idx="4">
                  <c:v>Tesco</c:v>
                </c:pt>
                <c:pt idx="5">
                  <c:v>Tesco Express</c:v>
                </c:pt>
                <c:pt idx="6">
                  <c:v>Waitrose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000">
          <a:latin typeface="Apto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Facings by Product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Pt>
            <c:idx val="2"/>
            <c:spPr>
              <a:solidFill>
                <a:srgbClr val="F7B801"/>
              </a:solidFill>
            </c:spPr>
          </c:dPt>
          <c:dPt>
            <c:idx val="3"/>
            <c:spPr>
              <a:solidFill>
                <a:srgbClr val="1B998B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Pure Juices</c:v>
                </c:pt>
                <c:pt idx="1">
                  <c:v>Other</c:v>
                </c:pt>
                <c:pt idx="2">
                  <c:v>Smoothies</c:v>
                </c:pt>
                <c:pt idx="3">
                  <c:v>Shots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161.0</c:v>
                </c:pt>
                <c:pt idx="1">
                  <c:v>26.0</c:v>
                </c:pt>
                <c:pt idx="2">
                  <c:v>21.0</c:v>
                </c:pt>
                <c:pt idx="3">
                  <c:v>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PL vs Branded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Branded</c:v>
                </c:pt>
                <c:pt idx="1">
                  <c:v>Private Label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3.7037037037037033</c:v>
                </c:pt>
                <c:pt idx="1">
                  <c:v>96.29629629629629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Indulgence vs Functional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Functional</c:v>
                </c:pt>
                <c:pt idx="1">
                  <c:v>Indulgence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25.0</c:v>
                </c:pt>
                <c:pt idx="1">
                  <c:v>74.07407407407408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Facings by Product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Pt>
            <c:idx val="2"/>
            <c:spPr>
              <a:solidFill>
                <a:srgbClr val="F7B801"/>
              </a:solidFill>
            </c:spPr>
          </c:dPt>
          <c:dPt>
            <c:idx val="3"/>
            <c:spPr>
              <a:solidFill>
                <a:srgbClr val="1B998B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Pure Juices</c:v>
                </c:pt>
                <c:pt idx="1">
                  <c:v>Shots</c:v>
                </c:pt>
                <c:pt idx="2">
                  <c:v>Smoothies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111.0</c:v>
                </c:pt>
                <c:pt idx="1">
                  <c:v>24.0</c:v>
                </c:pt>
                <c:pt idx="2">
                  <c:v>11.0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PL vs Branded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Private Label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Indulgence vs Functional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Functional</c:v>
                </c:pt>
                <c:pt idx="1">
                  <c:v>Indulgence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25.333333333333336</c:v>
                </c:pt>
                <c:pt idx="1">
                  <c:v>74.66666666666667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Facings by Product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Pt>
            <c:idx val="2"/>
            <c:spPr>
              <a:solidFill>
                <a:srgbClr val="F7B801"/>
              </a:solidFill>
            </c:spPr>
          </c:dPt>
          <c:dPt>
            <c:idx val="3"/>
            <c:spPr>
              <a:solidFill>
                <a:srgbClr val="1B998B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Pure Juices</c:v>
                </c:pt>
                <c:pt idx="1">
                  <c:v>Other</c:v>
                </c:pt>
                <c:pt idx="2">
                  <c:v>Shots</c:v>
                </c:pt>
                <c:pt idx="3">
                  <c:v>Smoothies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106.0</c:v>
                </c:pt>
                <c:pt idx="1">
                  <c:v>82.0</c:v>
                </c:pt>
                <c:pt idx="2">
                  <c:v>76.0</c:v>
                </c:pt>
                <c:pt idx="3">
                  <c:v>56.0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PL vs Branded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Branded</c:v>
                </c:pt>
                <c:pt idx="1">
                  <c:v>Private Label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98.75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Indulgence vs Functional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Functional</c:v>
                </c:pt>
                <c:pt idx="1">
                  <c:v>Indulgence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40.3125</c:v>
                </c:pt>
                <c:pt idx="1">
                  <c:v>59.68750000000001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Facings by Product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Pt>
            <c:idx val="2"/>
            <c:spPr>
              <a:solidFill>
                <a:srgbClr val="F7B801"/>
              </a:solidFill>
            </c:spPr>
          </c:dPt>
          <c:dPt>
            <c:idx val="3"/>
            <c:spPr>
              <a:solidFill>
                <a:srgbClr val="1B998B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Pure Juices</c:v>
                </c:pt>
                <c:pt idx="1">
                  <c:v>Smoothies</c:v>
                </c:pt>
                <c:pt idx="2">
                  <c:v>Shots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261.0</c:v>
                </c:pt>
                <c:pt idx="1">
                  <c:v>128.0</c:v>
                </c:pt>
                <c:pt idx="2">
                  <c:v>57.0</c:v>
                </c:pt>
                <c:pt idx="3">
                  <c:v>32.0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PL vs Branded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Branded</c:v>
                </c:pt>
                <c:pt idx="1">
                  <c:v>Private Label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80.1255230125523</c:v>
                </c:pt>
                <c:pt idx="1">
                  <c:v>19.874476987447697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Indulgence vs Functional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Functional</c:v>
                </c:pt>
                <c:pt idx="1">
                  <c:v>Indulgence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35.98326359832636</c:v>
                </c:pt>
                <c:pt idx="1">
                  <c:v>64.01673640167364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Facings by Product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Pt>
            <c:idx val="2"/>
            <c:spPr>
              <a:solidFill>
                <a:srgbClr val="F7B801"/>
              </a:solidFill>
            </c:spPr>
          </c:dPt>
          <c:dPt>
            <c:idx val="3"/>
            <c:spPr>
              <a:solidFill>
                <a:srgbClr val="1B998B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Pure Juices</c:v>
                </c:pt>
                <c:pt idx="1">
                  <c:v>Smoothies</c:v>
                </c:pt>
                <c:pt idx="2">
                  <c:v>Other</c:v>
                </c:pt>
                <c:pt idx="3">
                  <c:v>Shots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383.0</c:v>
                </c:pt>
                <c:pt idx="1">
                  <c:v>186.0</c:v>
                </c:pt>
                <c:pt idx="2">
                  <c:v>31.0</c:v>
                </c:pt>
                <c:pt idx="3">
                  <c:v>26.0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PL vs Branded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Branded</c:v>
                </c:pt>
                <c:pt idx="1">
                  <c:v>Private Label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73.1629392971246</c:v>
                </c:pt>
                <c:pt idx="1">
                  <c:v>26.837060702875398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Indulgence vs Functional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Functional</c:v>
                </c:pt>
                <c:pt idx="1">
                  <c:v>Indulgence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27.79552715654952</c:v>
                </c:pt>
                <c:pt idx="1">
                  <c:v>72.20447284345049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Facings by Product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Pt>
            <c:idx val="2"/>
            <c:spPr>
              <a:solidFill>
                <a:srgbClr val="F7B801"/>
              </a:solidFill>
            </c:spPr>
          </c:dPt>
          <c:dPt>
            <c:idx val="3"/>
            <c:spPr>
              <a:solidFill>
                <a:srgbClr val="1B998B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Other</c:v>
                </c:pt>
                <c:pt idx="1">
                  <c:v>Pure Juices</c:v>
                </c:pt>
                <c:pt idx="2">
                  <c:v>Smoothies</c:v>
                </c:pt>
                <c:pt idx="3">
                  <c:v>Shots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73.0</c:v>
                </c:pt>
                <c:pt idx="1">
                  <c:v>39.0</c:v>
                </c:pt>
                <c:pt idx="2">
                  <c:v>31.0</c:v>
                </c:pt>
                <c:pt idx="3">
                  <c:v>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PL vs Branded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Branded</c:v>
                </c:pt>
                <c:pt idx="1">
                  <c:v>Private Label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93.28859060402685</c:v>
                </c:pt>
                <c:pt idx="1">
                  <c:v>6.7114093959731544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Indulgence vs Functional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Functional</c:v>
                </c:pt>
                <c:pt idx="1">
                  <c:v>Indulgence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50.33557046979866</c:v>
                </c:pt>
                <c:pt idx="1">
                  <c:v>49.664429530201346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Facings by Product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Pt>
            <c:idx val="2"/>
            <c:spPr>
              <a:solidFill>
                <a:srgbClr val="F7B801"/>
              </a:solidFill>
            </c:spPr>
          </c:dPt>
          <c:dPt>
            <c:idx val="3"/>
            <c:spPr>
              <a:solidFill>
                <a:srgbClr val="1B998B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Pure Juices</c:v>
                </c:pt>
                <c:pt idx="1">
                  <c:v>Smoothies</c:v>
                </c:pt>
                <c:pt idx="2">
                  <c:v>Other</c:v>
                </c:pt>
                <c:pt idx="3">
                  <c:v>Shots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142.0</c:v>
                </c:pt>
                <c:pt idx="1">
                  <c:v>44.0</c:v>
                </c:pt>
                <c:pt idx="2">
                  <c:v>34.0</c:v>
                </c:pt>
                <c:pt idx="3">
                  <c:v>27.0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PL vs Branded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Branded</c:v>
                </c:pt>
                <c:pt idx="1">
                  <c:v>Private Label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67.20647773279353</c:v>
                </c:pt>
                <c:pt idx="1">
                  <c:v>32.79352226720648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latin typeface="Aptos"/>
              </a:defRPr>
            </a:pPr>
            <a:r>
              <a:t>% Indulgence vs Functional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004E89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Functional</c:v>
                </c:pt>
                <c:pt idx="1">
                  <c:v>Indulgence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39.27125506072874</c:v>
                </c:pt>
                <c:pt idx="1">
                  <c:v>60.72874493927125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Aptos"/>
              </a:defRPr>
            </a:pPr>
            <a:r>
              <a:t>Market Fingerprint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1005840"/>
          <a:ext cx="21031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606040" y="1005840"/>
          <a:ext cx="210312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37760" y="100584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  <a:latin typeface="Aptos"/>
              </a:defRPr>
            </a:pPr>
            <a:r>
              <a:t>Insufficient data for: % Cold Pressed vs Other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69480" y="1005840"/>
          <a:ext cx="2103120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601200" y="1005840"/>
          <a:ext cx="2103120" cy="41148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ptos"/>
              </a:defRPr>
            </a:pPr>
            <a:r>
              <a:t>Source: Fruity Line store visit data</a:t>
            </a:r>
          </a:p>
        </p:txBody>
      </p:sp>
      <p:pic>
        <p:nvPicPr>
          <p:cNvPr id="9" name="Picture 8" descr="fruity_line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0" y="6172200"/>
            <a:ext cx="1097280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C3E50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Aptos"/>
              </a:defRPr>
            </a:pPr>
            <a:r>
              <a:t>Brand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214073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574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</a:tblGrid>
              <a:tr h="31432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Market Share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Aldi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Lidl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M&amp;S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Sainsbury's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Tesco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Tesco Express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Waitrose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% Cold Pressed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% Functional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Innocent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32.8%</a:t>
                      </a:r>
                    </a:p>
                  </a:txBody>
                  <a:tcPr>
                    <a:solidFill>
                      <a:srgbClr val="C73E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27.0%</a:t>
                      </a:r>
                    </a:p>
                  </a:txBody>
                  <a:tcPr>
                    <a:solidFill>
                      <a:srgbClr val="C73E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19.5%</a:t>
                      </a:r>
                    </a:p>
                  </a:txBody>
                  <a:tcPr>
                    <a:solidFill>
                      <a:srgbClr val="C73E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26.3%</a:t>
                      </a:r>
                    </a:p>
                  </a:txBody>
                  <a:tcPr>
                    <a:solidFill>
                      <a:srgbClr val="F36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39.5%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M&amp;S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98.8%</a:t>
                      </a:r>
                    </a:p>
                  </a:txBody>
                  <a:tcPr>
                    <a:solidFill>
                      <a:srgbClr val="C73E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39.6%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The Juice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89.4%</a:t>
                      </a:r>
                    </a:p>
                  </a:txBody>
                  <a:tcPr>
                    <a:solidFill>
                      <a:srgbClr val="C73E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23.8%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Tropicana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FFD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11.3%</a:t>
                      </a:r>
                    </a:p>
                  </a:txBody>
                  <a:tcPr>
                    <a:solidFill>
                      <a:srgbClr val="FFD2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FFE2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FFE5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1.8%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Tesco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24.9%</a:t>
                      </a:r>
                    </a:p>
                  </a:txBody>
                  <a:tcPr>
                    <a:solidFill>
                      <a:srgbClr val="D84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6.7%</a:t>
                      </a:r>
                    </a:p>
                  </a:txBody>
                  <a:tcPr>
                    <a:solidFill>
                      <a:srgbClr val="FFDA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Lidl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89.3%</a:t>
                      </a:r>
                    </a:p>
                  </a:txBody>
                  <a:tcPr>
                    <a:solidFill>
                      <a:srgbClr val="C73E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16.4%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Naked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FDF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6.1%</a:t>
                      </a:r>
                    </a:p>
                  </a:txBody>
                  <a:tcPr>
                    <a:solidFill>
                      <a:srgbClr val="F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8.7%</a:t>
                      </a:r>
                    </a:p>
                  </a:txBody>
                  <a:tcPr>
                    <a:solidFill>
                      <a:srgbClr val="FFCF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81.6%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Sainsbury's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19.0%</a:t>
                      </a:r>
                    </a:p>
                  </a:txBody>
                  <a:tcPr>
                    <a:solidFill>
                      <a:srgbClr val="FFAB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12.1%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Waitrose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32.8%</a:t>
                      </a:r>
                    </a:p>
                  </a:txBody>
                  <a:tcPr>
                    <a:solidFill>
                      <a:srgbClr val="C73E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16.0%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Copella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F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3.8%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1.3%</a:t>
                      </a:r>
                    </a:p>
                  </a:txBody>
                  <a:tcPr>
                    <a:solidFill>
                      <a:srgbClr val="FF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5.7%</a:t>
                      </a:r>
                    </a:p>
                  </a:txBody>
                  <a:tcPr>
                    <a:solidFill>
                      <a:srgbClr val="FF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Mockingbird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2.9%</a:t>
                      </a:r>
                    </a:p>
                  </a:txBody>
                  <a:tcPr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2.7%</a:t>
                      </a:r>
                    </a:p>
                  </a:txBody>
                  <a:tcPr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54.2%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MOJU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6.7%</a:t>
                      </a:r>
                    </a:p>
                  </a:txBody>
                  <a:tcPr>
                    <a:solidFill>
                      <a:srgbClr val="FFE9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6.1%</a:t>
                      </a:r>
                    </a:p>
                  </a:txBody>
                  <a:tcPr>
                    <a:solidFill>
                      <a:srgbClr val="FFEB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Vita Coco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FF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2.2%</a:t>
                      </a:r>
                    </a:p>
                  </a:txBody>
                  <a:tcPr>
                    <a:solidFill>
                      <a:srgbClr val="FF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6.0%</a:t>
                      </a:r>
                    </a:p>
                  </a:txBody>
                  <a:tcPr>
                    <a:solidFill>
                      <a:srgbClr val="FFDE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30.3%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Plenish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1.3%</a:t>
                      </a:r>
                    </a:p>
                  </a:txBody>
                  <a:tcPr>
                    <a:solidFill>
                      <a:srgbClr val="FF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FF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4.0%</a:t>
                      </a:r>
                    </a:p>
                  </a:txBody>
                  <a:tcPr>
                    <a:solidFill>
                      <a:srgbClr val="FFE9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Ocean Spray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2.6%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83.3%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ptos"/>
              </a:defRPr>
            </a:pPr>
            <a:r>
              <a:t>Source: Fruity Line store visit data</a:t>
            </a:r>
          </a:p>
        </p:txBody>
      </p:sp>
      <p:pic>
        <p:nvPicPr>
          <p:cNvPr id="5" name="Picture 4" descr="fruity_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6172200"/>
            <a:ext cx="109728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C3E5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Aptos"/>
              </a:defRPr>
            </a:pPr>
            <a:r>
              <a:t>Retailer Sizing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5029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Retailer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Store Format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 SKU Count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 Facings</a:t>
                      </a:r>
                    </a:p>
                  </a:txBody>
                  <a:tcPr>
                    <a:solidFill>
                      <a:srgbClr val="004E8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Aldi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108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Lidl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M&amp;S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160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Sainsbury's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239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Tesco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313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Tesco Express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Waitrose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Aptos"/>
                        </a:defRPr>
                      </a:pPr>
                      <a:r>
                        <a:t>247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0" y="100584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ptos"/>
              </a:defRPr>
            </a:pPr>
            <a:r>
              <a:t>Source: Fruity Line store visit data</a:t>
            </a:r>
          </a:p>
        </p:txBody>
      </p:sp>
      <p:pic>
        <p:nvPicPr>
          <p:cNvPr id="6" name="Picture 5" descr="fruity_lin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6172200"/>
            <a:ext cx="109728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C3E5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Aptos"/>
              </a:defRPr>
            </a:pPr>
            <a:r>
              <a:t>Aldi Deep Dive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56616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  <a:latin typeface="Aptos"/>
              </a:defRPr>
            </a:pPr>
            <a:r>
              <a:t>Insufficient data for: % Cold Pressed vs Other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26480" y="3566160"/>
          <a:ext cx="5303520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ptos"/>
              </a:defRPr>
            </a:pPr>
            <a:r>
              <a:t>Source: Fruity Line store visit data</a:t>
            </a:r>
          </a:p>
        </p:txBody>
      </p:sp>
      <p:pic>
        <p:nvPicPr>
          <p:cNvPr id="8" name="Picture 7" descr="fruity_lin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172200"/>
            <a:ext cx="109728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C3E5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Aptos"/>
              </a:defRPr>
            </a:pPr>
            <a:r>
              <a:t>Lidl Deep Dive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56616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  <a:latin typeface="Aptos"/>
              </a:defRPr>
            </a:pPr>
            <a:r>
              <a:t>Insufficient data for: % Cold Pressed vs Other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26480" y="3566160"/>
          <a:ext cx="5303520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ptos"/>
              </a:defRPr>
            </a:pPr>
            <a:r>
              <a:t>Source: Fruity Line store visit data</a:t>
            </a:r>
          </a:p>
        </p:txBody>
      </p:sp>
      <p:pic>
        <p:nvPicPr>
          <p:cNvPr id="8" name="Picture 7" descr="fruity_lin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172200"/>
            <a:ext cx="109728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C3E5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Aptos"/>
              </a:defRPr>
            </a:pPr>
            <a:r>
              <a:t>M&amp;S Deep Dive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56616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  <a:latin typeface="Aptos"/>
              </a:defRPr>
            </a:pPr>
            <a:r>
              <a:t>Insufficient data for: % Cold Pressed vs Other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26480" y="3566160"/>
          <a:ext cx="5303520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ptos"/>
              </a:defRPr>
            </a:pPr>
            <a:r>
              <a:t>Source: Fruity Line store visit data</a:t>
            </a:r>
          </a:p>
        </p:txBody>
      </p:sp>
      <p:pic>
        <p:nvPicPr>
          <p:cNvPr id="8" name="Picture 7" descr="fruity_lin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172200"/>
            <a:ext cx="109728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C3E5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Aptos"/>
              </a:defRPr>
            </a:pPr>
            <a:r>
              <a:t>Sainsbury's Deep Dive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56616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  <a:latin typeface="Aptos"/>
              </a:defRPr>
            </a:pPr>
            <a:r>
              <a:t>Insufficient data for: % Cold Pressed vs Other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26480" y="3566160"/>
          <a:ext cx="5303520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ptos"/>
              </a:defRPr>
            </a:pPr>
            <a:r>
              <a:t>Source: Fruity Line store visit data</a:t>
            </a:r>
          </a:p>
        </p:txBody>
      </p:sp>
      <p:pic>
        <p:nvPicPr>
          <p:cNvPr id="8" name="Picture 7" descr="fruity_lin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172200"/>
            <a:ext cx="109728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C3E5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Aptos"/>
              </a:defRPr>
            </a:pPr>
            <a:r>
              <a:t>Tesco Deep Dive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56616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  <a:latin typeface="Aptos"/>
              </a:defRPr>
            </a:pPr>
            <a:r>
              <a:t>Insufficient data for: % Cold Pressed vs Other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26480" y="3566160"/>
          <a:ext cx="5303520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ptos"/>
              </a:defRPr>
            </a:pPr>
            <a:r>
              <a:t>Source: Fruity Line store visit data</a:t>
            </a:r>
          </a:p>
        </p:txBody>
      </p:sp>
      <p:pic>
        <p:nvPicPr>
          <p:cNvPr id="8" name="Picture 7" descr="fruity_lin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172200"/>
            <a:ext cx="109728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C3E5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Aptos"/>
              </a:defRPr>
            </a:pPr>
            <a:r>
              <a:t>Tesco Express Deep Dive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56616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  <a:latin typeface="Aptos"/>
              </a:defRPr>
            </a:pPr>
            <a:r>
              <a:t>Insufficient data for: % Cold Pressed vs Other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26480" y="3566160"/>
          <a:ext cx="5303520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ptos"/>
              </a:defRPr>
            </a:pPr>
            <a:r>
              <a:t>Source: Fruity Line store visit data</a:t>
            </a:r>
          </a:p>
        </p:txBody>
      </p:sp>
      <p:pic>
        <p:nvPicPr>
          <p:cNvPr id="8" name="Picture 7" descr="fruity_lin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172200"/>
            <a:ext cx="109728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C3E5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Aptos"/>
              </a:defRPr>
            </a:pPr>
            <a:r>
              <a:t>Waitrose Deep Dive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0" y="1005840"/>
          <a:ext cx="530352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56616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  <a:latin typeface="Aptos"/>
              </a:defRPr>
            </a:pPr>
            <a:r>
              <a:t>Insufficient data for: % Cold Pressed vs Other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26480" y="3566160"/>
          <a:ext cx="5303520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ptos"/>
              </a:defRPr>
            </a:pPr>
            <a:r>
              <a:t>Source: Fruity Line store visit data</a:t>
            </a:r>
          </a:p>
        </p:txBody>
      </p:sp>
      <p:pic>
        <p:nvPicPr>
          <p:cNvPr id="8" name="Picture 7" descr="fruity_lin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172200"/>
            <a:ext cx="109728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C3E5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